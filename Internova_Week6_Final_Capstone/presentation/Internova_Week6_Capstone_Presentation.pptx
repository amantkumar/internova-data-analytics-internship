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B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55480" y="0"/>
            <a:ext cx="2633472" cy="6858000"/>
          </a:xfrm>
          <a:prstGeom prst="rect">
            <a:avLst/>
          </a:prstGeom>
          <a:solidFill>
            <a:srgbClr val="17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69680" y="4389120"/>
            <a:ext cx="384048" cy="914400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55480" y="3749039"/>
            <a:ext cx="384048" cy="1554480"/>
          </a:xfrm>
          <a:prstGeom prst="roundRect">
            <a:avLst/>
          </a:prstGeom>
          <a:solidFill>
            <a:srgbClr val="5C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0" y="3017520"/>
            <a:ext cx="384048" cy="2286000"/>
          </a:xfrm>
          <a:prstGeom prst="round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27080" y="2103120"/>
            <a:ext cx="384048" cy="3200400"/>
          </a:xfrm>
          <a:prstGeom prst="roundRect">
            <a:avLst/>
          </a:prstGeom>
          <a:solidFill>
            <a:srgbClr val="36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58368"/>
            <a:ext cx="6217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CD2DA"/>
                </a:solidFill>
                <a:latin typeface="Aptos"/>
              </a:rPr>
              <a:t>INTERNOVA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71323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WEEK 6
FINAL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46120"/>
            <a:ext cx="65836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DDCEC"/>
                </a:solidFill>
                <a:latin typeface="Aptos"/>
              </a:rPr>
              <a:t>Sales Data Analytics
&amp; Business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62272"/>
            <a:ext cx="6583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5CD2DA"/>
                </a:solidFill>
                <a:latin typeface="Aptos"/>
              </a:rPr>
              <a:t>From raw transactions to business-ready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53212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Tiwari Aman Dhananjay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79592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CDDCEC"/>
                </a:solidFill>
                <a:latin typeface="Aptos"/>
              </a:rPr>
              <a:t>Data Analytics Internship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A quick view of the dataset and the strongest reported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606040" cy="146304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8580" cy="146304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CLEAN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21991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07791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After duplicate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83080"/>
            <a:ext cx="2606040" cy="146304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783080"/>
            <a:ext cx="68580" cy="146304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TOTAL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21991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₹95.34 lakh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07791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₹9,534,180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2606040" cy="146304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68580" cy="1463040"/>
          </a:xfrm>
          <a:prstGeom prst="rect">
            <a:avLst/>
          </a:prstGeom>
          <a:solidFill>
            <a:srgbClr val="36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AVERAGE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21991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₹79,451.50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7791"/>
            <a:ext cx="2286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Per cleaned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83080"/>
            <a:ext cx="2514600" cy="146304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783080"/>
            <a:ext cx="68580" cy="1463040"/>
          </a:xfrm>
          <a:prstGeom prst="rect">
            <a:avLst/>
          </a:prstGeom>
          <a:solidFill>
            <a:srgbClr val="EF7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1920240"/>
            <a:ext cx="21945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VISUALIZATIONS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221991"/>
            <a:ext cx="2194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907791"/>
            <a:ext cx="21945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Python-generated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105156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Computers is the leading category by sales.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East is the highest-performing region in the reported analysis.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Corporate is the largest customer segment by sales.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Revenue alone does not prove profitability; check discounts and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Business Problem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The questions guiding the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37160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8580" cy="13716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546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315467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Where are sales strongest?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62072"/>
            <a:ext cx="31546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Across time, category, region and segment.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74720" cy="137160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68580" cy="13716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1546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ANALYSIS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67712"/>
            <a:ext cx="315467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Explain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62072"/>
            <a:ext cx="31546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Summarize patterns and focus areas.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137160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8580" cy="1371600"/>
          </a:xfrm>
          <a:prstGeom prst="rect">
            <a:avLst/>
          </a:prstGeom>
          <a:solidFill>
            <a:srgbClr val="36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1546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BUSINESS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67712"/>
            <a:ext cx="315467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Actionable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62072"/>
            <a:ext cx="31546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Turn findings into measurable tests.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5CD2DA"/>
                </a:solidFill>
                <a:latin typeface="Aptos"/>
              </a:rPr>
              <a:t>Core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14800"/>
            <a:ext cx="1033272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Which product category contributes the most sales?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Which region and customer segment lead on sales?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How does performance vary by month?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How can improvements be tested without assuming revenue equals profit?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Dataset &amp; 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The capstone continues the Week 5 Sales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46320" cy="13258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580" cy="1325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SOURCE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4526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Sales_Raw, Sales_Clean, Customers,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5CD2DA"/>
                </a:solidFill>
                <a:latin typeface="Aptos"/>
              </a:rPr>
              <a:t>Data quality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50292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Removed duplicate Sale_ID records.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Recovered missing values where Sales_Amount supported it.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Checked cleaned row count and key fields.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43891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200" b="1">
                <a:solidFill>
                  <a:srgbClr val="FFBE55"/>
                </a:solidFill>
                <a:latin typeface="Aptos"/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cleaned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20440"/>
            <a:ext cx="41148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>
                <a:solidFill>
                  <a:srgbClr val="CDDCEC"/>
                </a:solidFill>
                <a:latin typeface="Aptos"/>
              </a:rPr>
              <a:t>A consistent dataset supports more reliable comparisons across time, category, region and customer segment.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02920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CD2DA"/>
                </a:solidFill>
                <a:latin typeface="Aptos"/>
              </a:rPr>
              <a:t>Review generated outputs before final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Tools &amp; 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A reproducible path from data preparation to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475488" cy="475488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847088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F3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737360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CDDCEC"/>
                </a:solidFill>
                <a:latin typeface="Aptos"/>
              </a:rPr>
              <a:t>Review data types, duplicates and missing values.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78608"/>
            <a:ext cx="475488" cy="475488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688336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F3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78608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78608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CDDCEC"/>
                </a:solidFill>
                <a:latin typeface="Aptos"/>
              </a:rPr>
              <a:t>Prepare a consistent sales table and enrich context.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19856"/>
            <a:ext cx="475488" cy="475488"/>
          </a:xfrm>
          <a:prstGeom prst="ellipse">
            <a:avLst/>
          </a:prstGeom>
          <a:solidFill>
            <a:srgbClr val="36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529584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F3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419856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19856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CDDCEC"/>
                </a:solidFill>
                <a:latin typeface="Aptos"/>
              </a:rPr>
              <a:t>Calculate statistics, correlations and outliers.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61104"/>
            <a:ext cx="475488" cy="475488"/>
          </a:xfrm>
          <a:prstGeom prst="ellipse">
            <a:avLst/>
          </a:prstGeom>
          <a:solidFill>
            <a:srgbClr val="EF7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37083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F3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261104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Visualize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61104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CDDCEC"/>
                </a:solidFill>
                <a:latin typeface="Aptos"/>
              </a:rPr>
              <a:t>Create six charts for sales patterns.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102352"/>
            <a:ext cx="475488" cy="475488"/>
          </a:xfrm>
          <a:prstGeom prst="ellipse">
            <a:avLst/>
          </a:prstGeom>
          <a:solidFill>
            <a:srgbClr val="5C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521208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F38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102352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Communicate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02352"/>
            <a:ext cx="7406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CDDCEC"/>
                </a:solidFill>
                <a:latin typeface="Aptos"/>
              </a:rPr>
              <a:t>Share insights, recommendations and dashboard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Finding 1 | Category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Computers is the largest sales category in the reported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00400" cy="150876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8580" cy="15087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TOP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880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Computers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Highest sales contribution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828800"/>
            <a:ext cx="3200400" cy="150876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828800"/>
            <a:ext cx="68580" cy="150876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CATEGORY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67712"/>
            <a:ext cx="2880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₹53.71 lakh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999232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₹5,371,450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74519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CD2DA"/>
                </a:solidFill>
                <a:latin typeface="Aptos"/>
              </a:rPr>
              <a:t>What this suggests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33832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Protect availability of leading products.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Check stock-out risk and supplier lead times.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Compare margins before increasing inventory.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DDCEC"/>
                </a:solidFill>
                <a:latin typeface="Aptos"/>
              </a:rPr>
              <a:t>Reported sales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72000"/>
            <a:ext cx="5943600" cy="438912"/>
          </a:xfrm>
          <a:prstGeom prst="roundRect">
            <a:avLst/>
          </a:prstGeom>
          <a:solidFill>
            <a:srgbClr val="2C3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572000"/>
            <a:ext cx="4754880" cy="438912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6636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₹5,371,450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577840"/>
            <a:ext cx="5943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D2DA"/>
                </a:solidFill>
                <a:latin typeface="Aptos"/>
              </a:rPr>
              <a:t>Category-level figure reported in the project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Finding 2 | Region &amp; Customer Segment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Two dimensions with the strongest reported sales totals.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120640" cy="160020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580" cy="1600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00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LEADING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East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90672"/>
            <a:ext cx="4800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₹5,490,620 in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20640" cy="160020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8580" cy="16002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800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LEADING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67712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Corporate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90672"/>
            <a:ext cx="4800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₹4,168,450 in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CD2DA"/>
                </a:solidFill>
                <a:latin typeface="Aptos"/>
              </a:rPr>
              <a:t>How to use these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Review product mix and customer needs in leading areas.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Compare regions and segments using the same date range.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Investigate weaker areas before shifting resources or launching promotions.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Finding 3 | Transaction &amp; Time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Use monthly results and transaction spread to understand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41732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8580" cy="1417320"/>
          </a:xfrm>
          <a:prstGeom prst="rect">
            <a:avLst/>
          </a:prstGeom>
          <a:solidFill>
            <a:srgbClr val="EF7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HIGHEST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3063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₹432,250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07791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Sale ID: S0032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141732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8580" cy="14173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LOWEST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3063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₹1,080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07791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Sale ID: S0086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141732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8580" cy="141732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AVERAGE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67712"/>
            <a:ext cx="3063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₹79,451.50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07791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Across 120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CD2DA"/>
                </a:solidFill>
                <a:latin typeface="Aptos"/>
              </a:rPr>
              <a:t>Monthly review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Compare month-on-month totals and identify unusual changes.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Check whether large transactions materially affect monthly totals.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Confirm date ordering and filters in Power 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Power BI Dashboard | Interactive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The Week 5 dashboard is retained as the BI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09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78181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18288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CD2DA"/>
                </a:solidFill>
                <a:latin typeface="Aptos"/>
              </a:rPr>
              <a:t>Dashboard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286000"/>
            <a:ext cx="2834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KPI cards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Category sales chart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Monthly sales trend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Regional sales donut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Product detail table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Region and category slicers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507492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FBE55"/>
                </a:solidFill>
                <a:latin typeface="Aptos"/>
              </a:rPr>
              <a:t>Save a separate Week 6 PBIX copy if you make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Recommendations &amp; 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Practical steps grounded in the reported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66360" cy="15544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BE5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6596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Protect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04872"/>
            <a:ext cx="3977639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DDCEC"/>
                </a:solidFill>
                <a:latin typeface="Aptos"/>
              </a:rPr>
              <a:t>Prioritize inventory checks for leading categories and regions; validate stock-out and margin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783080"/>
            <a:ext cx="5166360" cy="15544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7" y="1965960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BE5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Test focused promotions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404872"/>
            <a:ext cx="3977639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DDCEC"/>
                </a:solidFill>
                <a:latin typeface="Aptos"/>
              </a:rPr>
              <a:t>Run limited campaigns in weaker areas and compare results to a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39"/>
            <a:ext cx="5166360" cy="15544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931920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BE55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3192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Track revenue and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70831"/>
            <a:ext cx="3977639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DDCEC"/>
                </a:solidFill>
                <a:latin typeface="Aptos"/>
              </a:rPr>
              <a:t>Review discounts, costs and order values; high sales do not automatically mean high profit.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749039"/>
            <a:ext cx="5166360" cy="15544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3931920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BE5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93192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Make decisions measurable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370831"/>
            <a:ext cx="3977639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DDCEC"/>
                </a:solidFill>
                <a:latin typeface="Aptos"/>
              </a:rPr>
              <a:t>Set a time period and success metric before scaling an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GitHub, Reproducibility &amp; Submission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7724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D2DA"/>
                </a:solidFill>
                <a:latin typeface="Aptos"/>
              </a:rPr>
              <a:t>The repository records the analysis and makes the work easier to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473952"/>
            <a:ext cx="2834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CD2DA"/>
                </a:solidFill>
                <a:latin typeface="Aptos"/>
              </a:rPr>
              <a:t>INTERNOVA • WEEK 6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141732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580" cy="14173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analysis.py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1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Python analysis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141732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8580" cy="141732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3063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CSV + 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07791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Tables and six visualizations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383280" cy="141732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68580" cy="1417320"/>
          </a:xfrm>
          <a:prstGeom prst="rect">
            <a:avLst/>
          </a:prstGeom>
          <a:solidFill>
            <a:srgbClr val="36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267712"/>
            <a:ext cx="3063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README +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907791"/>
            <a:ext cx="3063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Workflow and project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CD2DA"/>
                </a:solidFill>
                <a:latin typeface="Aptos"/>
              </a:rPr>
              <a:t>Final validation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42416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Run the analysis and review generated outputs.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Verify chart titles, labels and values.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Open the PBIX and confirm the dashboard is readable.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Ensure report/presentation include five findings and two recommendations.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Verify at least three meaningful Git commits in GitHub.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CD2D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694944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Turn sales data
into better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246120"/>
            <a:ext cx="66751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CDDCEC"/>
                </a:solidFill>
                <a:latin typeface="Aptos"/>
              </a:rPr>
              <a:t>This capstone combines data preparation, exploratory analysis, visual storytelling, Power BI reporting and GitHub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371600"/>
            <a:ext cx="3246120" cy="13258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2440" y="1371600"/>
            <a:ext cx="68580" cy="1325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19" y="1508760"/>
            <a:ext cx="29260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RECORDS 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1810512"/>
            <a:ext cx="292607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2359152"/>
            <a:ext cx="29260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Clean sales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971800"/>
            <a:ext cx="3246120" cy="1325880"/>
          </a:xfrm>
          <a:prstGeom prst="roundRect">
            <a:avLst/>
          </a:prstGeom>
          <a:solidFill>
            <a:srgbClr val="1B3050"/>
          </a:solidFill>
          <a:ln>
            <a:solidFill>
              <a:srgbClr val="30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2971800"/>
            <a:ext cx="68580" cy="132588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3108960"/>
            <a:ext cx="29260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D2DA"/>
                </a:solidFill>
                <a:latin typeface="Aptos"/>
              </a:rPr>
              <a:t>TOTAL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3410712"/>
            <a:ext cx="292607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₹95.34 lakh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959352"/>
            <a:ext cx="2926079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DDCEC"/>
                </a:solidFill>
                <a:latin typeface="Aptos"/>
              </a:rPr>
              <a:t>Reported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5CD2DA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5943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Tiwari Aman Dhananjay • Internova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